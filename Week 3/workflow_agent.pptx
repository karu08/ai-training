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85"/>
    <p:restoredTop sz="94668"/>
  </p:normalViewPr>
  <p:slideViewPr>
    <p:cSldViewPr snapToGrid="0">
      <p:cViewPr varScale="1">
        <p:scale>
          <a:sx n="125" d="100"/>
          <a:sy n="125" d="100"/>
        </p:scale>
        <p:origin x="16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44ABD-1F2D-0E93-4F0C-C33BB07C31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CC7D79-D65B-C2A5-967E-935B1C84FE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D0E44-B58B-83CF-2DE9-2F02F7D07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F1CF6-9018-1F42-BE44-B907FDE1AD69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7AC90-DD04-E379-F23C-6418FEEB8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21D8A-B3D6-CE45-7428-3D548C834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95FE-896B-2E4A-B522-364826A94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815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7A199-F40C-466B-32F1-8B9D847B1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15914-CF13-724D-695A-880DCCC67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F7E6A-500D-3FAB-18B2-A09FACBBD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F1CF6-9018-1F42-BE44-B907FDE1AD69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338DF-7522-432A-CAED-1C221BEC2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5E8A4-0B75-8E7E-A704-46CC757A5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95FE-896B-2E4A-B522-364826A94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204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38E9D-65C9-4341-F9F7-89E273602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24AB35-E51B-A071-8ECA-78D77BEEE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BBA86-0522-D34C-8D98-6CA402DE6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F1CF6-9018-1F42-BE44-B907FDE1AD69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32050-DB7B-0F0F-D569-D293CCD9C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B20A4-E7E8-17C7-2CBC-3E88EE36C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95FE-896B-2E4A-B522-364826A94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955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2D9BF-4C8A-9C3D-D389-862C07B14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40185-1553-E762-46C8-A0CF26A62E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F531CC-19DE-6060-9742-0B36D5B701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647994-77BA-998A-30F9-BF1E72CE4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F1CF6-9018-1F42-BE44-B907FDE1AD69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E424F-B202-A1FC-2CEF-71953933C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94694-9C08-7506-1BE2-059802246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95FE-896B-2E4A-B522-364826A94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236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72E3D-AE17-9A03-6C73-94D466F6A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AC51EA-25C4-A049-5647-52BC5CD15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0D586D-E8AE-6CEF-53E5-B66F3FE20E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356DD5-3144-746C-C69E-BB82C58E1F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AA1DD1-26B1-2F0C-779A-6367CFF156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4D0D2A-A13C-2EAF-448D-81886CD60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F1CF6-9018-1F42-BE44-B907FDE1AD69}" type="datetimeFigureOut">
              <a:rPr lang="en-US" smtClean="0"/>
              <a:t>1/16/26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46DC17-E247-E370-9733-F31EF0E90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DBA15B-4CEA-610A-A86D-BD7BFD1A5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95FE-896B-2E4A-B522-364826A94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8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4D57F-6CB5-7E55-C5AF-26A99F4C8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C21BE2-7D05-D5DB-2FA1-52B92A356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F1CF6-9018-1F42-BE44-B907FDE1AD69}" type="datetimeFigureOut">
              <a:rPr lang="en-US" smtClean="0"/>
              <a:t>1/16/26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AF8A35-D8C6-B73A-3351-32DC2A3A2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99A606-A9F6-4FDC-6870-F9D0BB58E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95FE-896B-2E4A-B522-364826A94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814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96F52D-EBEA-9A4F-5AC7-EA95A98E6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F1CF6-9018-1F42-BE44-B907FDE1AD69}" type="datetimeFigureOut">
              <a:rPr lang="en-US" smtClean="0"/>
              <a:t>1/16/26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51C4DB-12FB-470F-9A74-6936CF6CB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7A290-622C-3A76-FF27-6E8B154DD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95FE-896B-2E4A-B522-364826A94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010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E12F8-D51B-2CB3-B718-613433C8C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866D3-9541-E113-F151-62C7A3E10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7462-04FF-5AB1-A7AC-68C9EB0B57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9D7AB6-A67B-FB36-FFCC-3B0C64A73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F1CF6-9018-1F42-BE44-B907FDE1AD69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2F7378-3851-DB7A-14DE-47DB29D7F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63D899-40D0-952E-FC9B-EE4910391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95FE-896B-2E4A-B522-364826A94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756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0BFCD-A395-CB83-CEF5-BBA4803A8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CF6B32-ED3E-7A4B-7F0F-E468992207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260DB8-EF71-D6C1-68D5-4EAA44385F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395FD-52CA-90E0-7B38-1553F2631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F1CF6-9018-1F42-BE44-B907FDE1AD69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D0452-91AF-2814-1ABD-20F2558BC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D5410F-5E1D-A877-5D46-C80A5E452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95FE-896B-2E4A-B522-364826A94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603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6D889-3F96-9856-42BD-1753362A1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7D143-65DB-2CEF-78D1-F70DB23D89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61D19-FBE8-228C-6400-615230992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F1CF6-9018-1F42-BE44-B907FDE1AD69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E5CE2-899F-5200-7718-2EF26C26C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ADE9E-3E83-5836-71D4-73321CB7D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95FE-896B-2E4A-B522-364826A94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337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E58AEC-2B33-008D-7E9B-C88BBE3027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CFDCA0-9EB0-F9F2-FF8A-2579057C05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49F02-69D6-C081-07B6-5F7B8FE27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F1CF6-9018-1F42-BE44-B907FDE1AD69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183D6-9A17-8841-24C5-6FC85FF7E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649F4-8D2C-3D3A-796C-185087F23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95FE-896B-2E4A-B522-364826A94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417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A32D33-3656-33B5-E9BE-CC0897282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7AF817-92E7-8871-A668-B2A0A379B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B6843-1492-B346-3064-7ABB3067E5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1F1CF6-9018-1F42-BE44-B907FDE1AD69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ABE55-9E12-8365-C86D-726433721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CC46B-4C70-0D37-AD39-79DC958425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5695FE-896B-2E4A-B522-364826A94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42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CD1A862-FC6F-C1B6-8287-BE2DAFE35549}"/>
              </a:ext>
            </a:extLst>
          </p:cNvPr>
          <p:cNvSpPr/>
          <p:nvPr/>
        </p:nvSpPr>
        <p:spPr>
          <a:xfrm>
            <a:off x="3858990" y="2311400"/>
            <a:ext cx="4246880" cy="170688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4E4363-88E6-DFE7-DC6F-E43697E4958A}"/>
              </a:ext>
            </a:extLst>
          </p:cNvPr>
          <p:cNvSpPr txBox="1"/>
          <p:nvPr/>
        </p:nvSpPr>
        <p:spPr>
          <a:xfrm>
            <a:off x="4148191" y="2659558"/>
            <a:ext cx="38956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Workflow and Agent Integration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86494E-542F-C4ED-09C1-83CE929C15D9}"/>
              </a:ext>
            </a:extLst>
          </p:cNvPr>
          <p:cNvSpPr txBox="1"/>
          <p:nvPr/>
        </p:nvSpPr>
        <p:spPr>
          <a:xfrm>
            <a:off x="4318000" y="3059668"/>
            <a:ext cx="331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Practice chosen: Retail Banking</a:t>
            </a:r>
          </a:p>
        </p:txBody>
      </p:sp>
    </p:spTree>
    <p:extLst>
      <p:ext uri="{BB962C8B-B14F-4D97-AF65-F5344CB8AC3E}">
        <p14:creationId xmlns:p14="http://schemas.microsoft.com/office/powerpoint/2010/main" val="1954802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66CAA7-A42F-B7EB-BB58-2C0923741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4AD64A-F53B-38D6-5BDC-6B22CBBE23D5}"/>
              </a:ext>
            </a:extLst>
          </p:cNvPr>
          <p:cNvSpPr txBox="1"/>
          <p:nvPr/>
        </p:nvSpPr>
        <p:spPr>
          <a:xfrm>
            <a:off x="3830320" y="193040"/>
            <a:ext cx="4511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Process 1: Bank Account Balance Enquiry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85956F-27B9-9013-016B-BF233ADEAF21}"/>
              </a:ext>
            </a:extLst>
          </p:cNvPr>
          <p:cNvSpPr txBox="1"/>
          <p:nvPr/>
        </p:nvSpPr>
        <p:spPr>
          <a:xfrm>
            <a:off x="243840" y="914400"/>
            <a:ext cx="4333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Query: What is my account balance?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36FA89-1AC9-3E1C-8F5D-56D06287FF8F}"/>
              </a:ext>
            </a:extLst>
          </p:cNvPr>
          <p:cNvSpPr txBox="1"/>
          <p:nvPr/>
        </p:nvSpPr>
        <p:spPr>
          <a:xfrm>
            <a:off x="243840" y="1312594"/>
            <a:ext cx="419082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Workflow Steps: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Redirect customer to login page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Customer logs in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System verifies credentials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System fetches balance in account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Balance is displayed to the customer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EFD9E5-2E7C-2E79-CCDB-8DBB3F58189E}"/>
              </a:ext>
            </a:extLst>
          </p:cNvPr>
          <p:cNvSpPr txBox="1"/>
          <p:nvPr/>
        </p:nvSpPr>
        <p:spPr>
          <a:xfrm>
            <a:off x="333015" y="3606415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Workflow: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6D0FC92-689D-6838-13D5-20BEC4F9D8A0}"/>
              </a:ext>
            </a:extLst>
          </p:cNvPr>
          <p:cNvSpPr/>
          <p:nvPr/>
        </p:nvSpPr>
        <p:spPr>
          <a:xfrm>
            <a:off x="538479" y="4181748"/>
            <a:ext cx="1281753" cy="66698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Login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E4EAFD4-DE7F-117E-249E-3D456BA7A631}"/>
              </a:ext>
            </a:extLst>
          </p:cNvPr>
          <p:cNvSpPr/>
          <p:nvPr/>
        </p:nvSpPr>
        <p:spPr>
          <a:xfrm>
            <a:off x="2985444" y="4165000"/>
            <a:ext cx="1281755" cy="68373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Verify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3246DEA-BCE9-181A-3DD5-BA98AB9A04D0}"/>
              </a:ext>
            </a:extLst>
          </p:cNvPr>
          <p:cNvSpPr/>
          <p:nvPr/>
        </p:nvSpPr>
        <p:spPr>
          <a:xfrm>
            <a:off x="5452730" y="4181748"/>
            <a:ext cx="1395110" cy="66698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Fetch Balance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EC0990B-3485-3DDB-4F00-510CF022DD41}"/>
              </a:ext>
            </a:extLst>
          </p:cNvPr>
          <p:cNvSpPr/>
          <p:nvPr/>
        </p:nvSpPr>
        <p:spPr>
          <a:xfrm>
            <a:off x="8047768" y="4199528"/>
            <a:ext cx="1395110" cy="63142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Display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1A47B89-42CE-D641-0B4E-390560E1F59E}"/>
              </a:ext>
            </a:extLst>
          </p:cNvPr>
          <p:cNvCxnSpPr/>
          <p:nvPr/>
        </p:nvCxnSpPr>
        <p:spPr>
          <a:xfrm>
            <a:off x="1920240" y="4506868"/>
            <a:ext cx="965200" cy="8374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EBCC88A-9C50-F75E-8CB2-B61FD5F7CC1E}"/>
              </a:ext>
            </a:extLst>
          </p:cNvPr>
          <p:cNvCxnSpPr/>
          <p:nvPr/>
        </p:nvCxnSpPr>
        <p:spPr>
          <a:xfrm>
            <a:off x="4363547" y="4515242"/>
            <a:ext cx="965200" cy="8374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50D6FE4-EEEF-5516-0D59-2B8F0A02E4C3}"/>
              </a:ext>
            </a:extLst>
          </p:cNvPr>
          <p:cNvCxnSpPr/>
          <p:nvPr/>
        </p:nvCxnSpPr>
        <p:spPr>
          <a:xfrm>
            <a:off x="6971823" y="4523616"/>
            <a:ext cx="965200" cy="8374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352FB8F-4FDA-893D-70DD-87853CC277C3}"/>
              </a:ext>
            </a:extLst>
          </p:cNvPr>
          <p:cNvSpPr txBox="1"/>
          <p:nvPr/>
        </p:nvSpPr>
        <p:spPr>
          <a:xfrm>
            <a:off x="363494" y="5496945"/>
            <a:ext cx="613898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this process, an AI Agent is </a:t>
            </a:r>
            <a:r>
              <a:rPr lang="en-US" b="1" dirty="0"/>
              <a:t>not required </a:t>
            </a:r>
            <a:r>
              <a:rPr lang="en-US" dirty="0"/>
              <a:t>because: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same steps are followed in the same order every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situation-based reasoning is required</a:t>
            </a:r>
          </a:p>
        </p:txBody>
      </p:sp>
    </p:spTree>
    <p:extLst>
      <p:ext uri="{BB962C8B-B14F-4D97-AF65-F5344CB8AC3E}">
        <p14:creationId xmlns:p14="http://schemas.microsoft.com/office/powerpoint/2010/main" val="835308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A33F7D-EF42-A3BC-F4D7-C8DBA10EA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9B7774-06C7-8258-F5E5-8D5FA13FBA11}"/>
              </a:ext>
            </a:extLst>
          </p:cNvPr>
          <p:cNvSpPr txBox="1"/>
          <p:nvPr/>
        </p:nvSpPr>
        <p:spPr>
          <a:xfrm>
            <a:off x="3359069" y="214198"/>
            <a:ext cx="5396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Process 2: Customer Transaction Failure Handling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0623E7-98FF-0D3F-E6F5-BF4F6C4755CC}"/>
              </a:ext>
            </a:extLst>
          </p:cNvPr>
          <p:cNvSpPr txBox="1"/>
          <p:nvPr/>
        </p:nvSpPr>
        <p:spPr>
          <a:xfrm>
            <a:off x="243840" y="914400"/>
            <a:ext cx="5046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Query: Money debited but transaction failed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5D9BE0-1B2E-FF5B-7563-4947BC37A785}"/>
              </a:ext>
            </a:extLst>
          </p:cNvPr>
          <p:cNvSpPr txBox="1"/>
          <p:nvPr/>
        </p:nvSpPr>
        <p:spPr>
          <a:xfrm>
            <a:off x="243840" y="1312594"/>
            <a:ext cx="624344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Fixed Workflow Steps: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Customer raises a transaction dispute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System validates account number and transaction details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System checks the status of transaction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System compares the status with pre-defined rules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System sends a standard response to the customer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586D77-11A1-E317-54F7-EE5B679DD40E}"/>
              </a:ext>
            </a:extLst>
          </p:cNvPr>
          <p:cNvSpPr txBox="1"/>
          <p:nvPr/>
        </p:nvSpPr>
        <p:spPr>
          <a:xfrm>
            <a:off x="243840" y="3429000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Workflow: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1D2C6A6-D943-D40E-5C16-96D9FAB6AEAE}"/>
              </a:ext>
            </a:extLst>
          </p:cNvPr>
          <p:cNvSpPr/>
          <p:nvPr/>
        </p:nvSpPr>
        <p:spPr>
          <a:xfrm>
            <a:off x="548639" y="3980650"/>
            <a:ext cx="1281753" cy="66698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Customer request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85D1647-32F3-F296-D50A-39133CCEFFF8}"/>
              </a:ext>
            </a:extLst>
          </p:cNvPr>
          <p:cNvSpPr/>
          <p:nvPr/>
        </p:nvSpPr>
        <p:spPr>
          <a:xfrm>
            <a:off x="2995604" y="3963902"/>
            <a:ext cx="1281755" cy="68373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System validation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31A40F0-1E8D-4900-96AC-253223944301}"/>
              </a:ext>
            </a:extLst>
          </p:cNvPr>
          <p:cNvSpPr/>
          <p:nvPr/>
        </p:nvSpPr>
        <p:spPr>
          <a:xfrm>
            <a:off x="5462890" y="3980650"/>
            <a:ext cx="1395110" cy="66698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Transaction status check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54209C9-46E3-BFC4-2107-307AF2D33C7A}"/>
              </a:ext>
            </a:extLst>
          </p:cNvPr>
          <p:cNvSpPr/>
          <p:nvPr/>
        </p:nvSpPr>
        <p:spPr>
          <a:xfrm>
            <a:off x="8057928" y="3998430"/>
            <a:ext cx="1395110" cy="63142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Comparison with rules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412159E-6B0C-D54F-5374-200EE9BFD9AB}"/>
              </a:ext>
            </a:extLst>
          </p:cNvPr>
          <p:cNvCxnSpPr/>
          <p:nvPr/>
        </p:nvCxnSpPr>
        <p:spPr>
          <a:xfrm>
            <a:off x="1930400" y="4305770"/>
            <a:ext cx="965200" cy="8374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228544E-5DEF-0B21-C65B-077147439497}"/>
              </a:ext>
            </a:extLst>
          </p:cNvPr>
          <p:cNvCxnSpPr/>
          <p:nvPr/>
        </p:nvCxnSpPr>
        <p:spPr>
          <a:xfrm>
            <a:off x="4373707" y="4314144"/>
            <a:ext cx="965200" cy="8374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3064071-97B5-D106-DF69-F445A4FF3169}"/>
              </a:ext>
            </a:extLst>
          </p:cNvPr>
          <p:cNvCxnSpPr/>
          <p:nvPr/>
        </p:nvCxnSpPr>
        <p:spPr>
          <a:xfrm>
            <a:off x="6981983" y="4322518"/>
            <a:ext cx="965200" cy="8374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29B82CA-8C9C-F82F-B701-9268A56C6C63}"/>
              </a:ext>
            </a:extLst>
          </p:cNvPr>
          <p:cNvSpPr/>
          <p:nvPr/>
        </p:nvSpPr>
        <p:spPr>
          <a:xfrm>
            <a:off x="10639728" y="4014702"/>
            <a:ext cx="1395110" cy="63142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Standard Response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73785C7-A062-80D0-167C-9F4565F04E54}"/>
              </a:ext>
            </a:extLst>
          </p:cNvPr>
          <p:cNvCxnSpPr/>
          <p:nvPr/>
        </p:nvCxnSpPr>
        <p:spPr>
          <a:xfrm>
            <a:off x="9563783" y="4338790"/>
            <a:ext cx="965200" cy="8374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7691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2B1BD1-4F91-25C0-EA5F-2ECF44709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C2591A-17A6-42A1-95E1-AA4C53A4ACB4}"/>
              </a:ext>
            </a:extLst>
          </p:cNvPr>
          <p:cNvSpPr txBox="1"/>
          <p:nvPr/>
        </p:nvSpPr>
        <p:spPr>
          <a:xfrm>
            <a:off x="3359069" y="214198"/>
            <a:ext cx="5396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Process 3: Customer Transaction Failure Handling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9E2098-516D-7D63-8665-1AE2957D2FC9}"/>
              </a:ext>
            </a:extLst>
          </p:cNvPr>
          <p:cNvSpPr txBox="1"/>
          <p:nvPr/>
        </p:nvSpPr>
        <p:spPr>
          <a:xfrm>
            <a:off x="243840" y="914400"/>
            <a:ext cx="5046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Query: Money debited but transaction failed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9C0A57-8937-0931-53EE-71EF2A8B59B5}"/>
              </a:ext>
            </a:extLst>
          </p:cNvPr>
          <p:cNvSpPr txBox="1"/>
          <p:nvPr/>
        </p:nvSpPr>
        <p:spPr>
          <a:xfrm>
            <a:off x="243840" y="1312594"/>
            <a:ext cx="116286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Agent Version</a:t>
            </a:r>
          </a:p>
          <a:p>
            <a:r>
              <a:rPr lang="en-US" u="sng" dirty="0"/>
              <a:t>Goal</a:t>
            </a:r>
            <a:r>
              <a:rPr lang="en-US" dirty="0"/>
              <a:t>: </a:t>
            </a:r>
            <a:r>
              <a:rPr lang="en-GB" dirty="0"/>
              <a:t>Identify the cause of the failed transaction and ensure the customer’s money is correctly credited or refunded.</a:t>
            </a:r>
            <a:endParaRPr lang="en-US" b="1" dirty="0"/>
          </a:p>
          <a:p>
            <a:r>
              <a:rPr lang="en-US" dirty="0"/>
              <a:t>Agent decides what to do next based on the situation, instead of following fixed steps.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C9E8BA-AC1E-19E2-983C-5B582F51095A}"/>
              </a:ext>
            </a:extLst>
          </p:cNvPr>
          <p:cNvSpPr txBox="1"/>
          <p:nvPr/>
        </p:nvSpPr>
        <p:spPr>
          <a:xfrm>
            <a:off x="213735" y="2227874"/>
            <a:ext cx="2553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Agent Decision-making:</a:t>
            </a:r>
          </a:p>
        </p:txBody>
      </p:sp>
      <p:sp>
        <p:nvSpPr>
          <p:cNvPr id="9" name="Decision 8">
            <a:extLst>
              <a:ext uri="{FF2B5EF4-FFF2-40B4-BE49-F238E27FC236}">
                <a16:creationId xmlns:a16="http://schemas.microsoft.com/office/drawing/2014/main" id="{AE59D71D-73B2-09B2-7883-D99DC1327DD1}"/>
              </a:ext>
            </a:extLst>
          </p:cNvPr>
          <p:cNvSpPr/>
          <p:nvPr/>
        </p:nvSpPr>
        <p:spPr>
          <a:xfrm>
            <a:off x="587056" y="2678389"/>
            <a:ext cx="2999424" cy="878505"/>
          </a:xfrm>
          <a:prstGeom prst="flowChartDecisio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If transaction is </a:t>
            </a:r>
            <a:r>
              <a:rPr lang="en-US" sz="1600" b="1" dirty="0"/>
              <a:t>pending</a:t>
            </a:r>
            <a:endParaRPr lang="en-US" sz="1600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D02FC95-25D1-4EFE-512A-7B44FE5796B7}"/>
              </a:ext>
            </a:extLst>
          </p:cNvPr>
          <p:cNvSpPr/>
          <p:nvPr/>
        </p:nvSpPr>
        <p:spPr>
          <a:xfrm>
            <a:off x="5124311" y="2736502"/>
            <a:ext cx="1882417" cy="64633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Wait and notify customer</a:t>
            </a:r>
          </a:p>
        </p:txBody>
      </p:sp>
      <p:sp>
        <p:nvSpPr>
          <p:cNvPr id="16" name="Decision 15">
            <a:extLst>
              <a:ext uri="{FF2B5EF4-FFF2-40B4-BE49-F238E27FC236}">
                <a16:creationId xmlns:a16="http://schemas.microsoft.com/office/drawing/2014/main" id="{FB578777-450F-E4A9-B765-B38F2E953052}"/>
              </a:ext>
            </a:extLst>
          </p:cNvPr>
          <p:cNvSpPr/>
          <p:nvPr/>
        </p:nvSpPr>
        <p:spPr>
          <a:xfrm>
            <a:off x="349485" y="3916626"/>
            <a:ext cx="3474565" cy="1153830"/>
          </a:xfrm>
          <a:prstGeom prst="flowChartDecisio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If amount </a:t>
            </a:r>
            <a:r>
              <a:rPr lang="en-US" sz="1600" b="1" dirty="0"/>
              <a:t>debited</a:t>
            </a:r>
            <a:r>
              <a:rPr lang="en-US" sz="1600" dirty="0"/>
              <a:t> but transaction failed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CB044D3-7521-63C3-4358-5F917202E209}"/>
              </a:ext>
            </a:extLst>
          </p:cNvPr>
          <p:cNvSpPr/>
          <p:nvPr/>
        </p:nvSpPr>
        <p:spPr>
          <a:xfrm>
            <a:off x="5223092" y="4206577"/>
            <a:ext cx="1882417" cy="64633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Initiate refund</a:t>
            </a:r>
          </a:p>
        </p:txBody>
      </p:sp>
      <p:sp>
        <p:nvSpPr>
          <p:cNvPr id="21" name="Decision 20">
            <a:extLst>
              <a:ext uri="{FF2B5EF4-FFF2-40B4-BE49-F238E27FC236}">
                <a16:creationId xmlns:a16="http://schemas.microsoft.com/office/drawing/2014/main" id="{EC65EF86-06F5-719D-6DC2-B6D8C60598F5}"/>
              </a:ext>
            </a:extLst>
          </p:cNvPr>
          <p:cNvSpPr/>
          <p:nvPr/>
        </p:nvSpPr>
        <p:spPr>
          <a:xfrm>
            <a:off x="505774" y="5545406"/>
            <a:ext cx="3236995" cy="1060491"/>
          </a:xfrm>
          <a:prstGeom prst="flowChartDecisio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If transaction looks </a:t>
            </a:r>
            <a:r>
              <a:rPr lang="en-US" sz="1600" b="1" dirty="0"/>
              <a:t>suspicious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13665C6-CF20-8B29-8668-28B16E18FDF2}"/>
              </a:ext>
            </a:extLst>
          </p:cNvPr>
          <p:cNvSpPr/>
          <p:nvPr/>
        </p:nvSpPr>
        <p:spPr>
          <a:xfrm>
            <a:off x="5233256" y="5676652"/>
            <a:ext cx="1882417" cy="64633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Run fraud checks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E9CED13-AFD0-11D8-F935-7302B9CFB741}"/>
              </a:ext>
            </a:extLst>
          </p:cNvPr>
          <p:cNvCxnSpPr>
            <a:cxnSpLocks/>
          </p:cNvCxnSpPr>
          <p:nvPr/>
        </p:nvCxnSpPr>
        <p:spPr>
          <a:xfrm>
            <a:off x="3797241" y="3109267"/>
            <a:ext cx="1252279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1AA4D4A-F882-FF8D-1F9D-80A329174DBB}"/>
              </a:ext>
            </a:extLst>
          </p:cNvPr>
          <p:cNvCxnSpPr>
            <a:cxnSpLocks/>
          </p:cNvCxnSpPr>
          <p:nvPr/>
        </p:nvCxnSpPr>
        <p:spPr>
          <a:xfrm>
            <a:off x="3902512" y="4493541"/>
            <a:ext cx="1252279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6A7EA50-C372-B547-9F90-D316590773DE}"/>
              </a:ext>
            </a:extLst>
          </p:cNvPr>
          <p:cNvCxnSpPr>
            <a:cxnSpLocks/>
          </p:cNvCxnSpPr>
          <p:nvPr/>
        </p:nvCxnSpPr>
        <p:spPr>
          <a:xfrm>
            <a:off x="3874850" y="6065798"/>
            <a:ext cx="1252279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9701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F50554-07BB-82A7-9C3B-A391B97B1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92DB83-384C-319B-FEAF-87E857D44494}"/>
              </a:ext>
            </a:extLst>
          </p:cNvPr>
          <p:cNvSpPr txBox="1"/>
          <p:nvPr/>
        </p:nvSpPr>
        <p:spPr>
          <a:xfrm>
            <a:off x="3359069" y="214198"/>
            <a:ext cx="5396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Process 3: Customer Transaction Failure Handling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199534-BDF2-A638-D9D9-4A95DE019D94}"/>
              </a:ext>
            </a:extLst>
          </p:cNvPr>
          <p:cNvSpPr txBox="1"/>
          <p:nvPr/>
        </p:nvSpPr>
        <p:spPr>
          <a:xfrm>
            <a:off x="243840" y="914400"/>
            <a:ext cx="5046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Query: Money debited but transaction failed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DEA511-7E8C-B844-84B5-13067235AD2E}"/>
              </a:ext>
            </a:extLst>
          </p:cNvPr>
          <p:cNvSpPr txBox="1"/>
          <p:nvPr/>
        </p:nvSpPr>
        <p:spPr>
          <a:xfrm>
            <a:off x="243840" y="1775376"/>
            <a:ext cx="3379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Agent Decision-making (contd.):</a:t>
            </a:r>
          </a:p>
        </p:txBody>
      </p:sp>
      <p:sp>
        <p:nvSpPr>
          <p:cNvPr id="9" name="Decision 8">
            <a:extLst>
              <a:ext uri="{FF2B5EF4-FFF2-40B4-BE49-F238E27FC236}">
                <a16:creationId xmlns:a16="http://schemas.microsoft.com/office/drawing/2014/main" id="{D565E78B-A38A-71A5-03EB-49A76A46C00C}"/>
              </a:ext>
            </a:extLst>
          </p:cNvPr>
          <p:cNvSpPr/>
          <p:nvPr/>
        </p:nvSpPr>
        <p:spPr>
          <a:xfrm>
            <a:off x="481410" y="2316312"/>
            <a:ext cx="2999424" cy="878505"/>
          </a:xfrm>
          <a:prstGeom prst="flowChartDecisio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If information is </a:t>
            </a:r>
            <a:r>
              <a:rPr lang="en-US" sz="1600" b="1" dirty="0"/>
              <a:t>missing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22CA1A0-863D-BA1B-2CE8-F53B245590E7}"/>
              </a:ext>
            </a:extLst>
          </p:cNvPr>
          <p:cNvSpPr/>
          <p:nvPr/>
        </p:nvSpPr>
        <p:spPr>
          <a:xfrm>
            <a:off x="5018665" y="2374425"/>
            <a:ext cx="1882417" cy="64633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Ask follow-up questions</a:t>
            </a:r>
          </a:p>
        </p:txBody>
      </p:sp>
      <p:sp>
        <p:nvSpPr>
          <p:cNvPr id="16" name="Decision 15">
            <a:extLst>
              <a:ext uri="{FF2B5EF4-FFF2-40B4-BE49-F238E27FC236}">
                <a16:creationId xmlns:a16="http://schemas.microsoft.com/office/drawing/2014/main" id="{9F432023-AE23-1FCF-6C8B-8776E361D7CC}"/>
              </a:ext>
            </a:extLst>
          </p:cNvPr>
          <p:cNvSpPr/>
          <p:nvPr/>
        </p:nvSpPr>
        <p:spPr>
          <a:xfrm>
            <a:off x="355600" y="3554550"/>
            <a:ext cx="3281524" cy="936282"/>
          </a:xfrm>
          <a:prstGeom prst="flowChartDecisio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If issue is </a:t>
            </a:r>
            <a:r>
              <a:rPr lang="en-US" sz="1600" b="1" dirty="0"/>
              <a:t>complex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438C647-9CFE-C7D0-E2C8-D53FFBC4C571}"/>
              </a:ext>
            </a:extLst>
          </p:cNvPr>
          <p:cNvSpPr/>
          <p:nvPr/>
        </p:nvSpPr>
        <p:spPr>
          <a:xfrm>
            <a:off x="5117446" y="3686378"/>
            <a:ext cx="1882417" cy="64633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Escalate to human support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AC141E3-6B24-6557-2DB3-B0FCD4CCCA0A}"/>
              </a:ext>
            </a:extLst>
          </p:cNvPr>
          <p:cNvCxnSpPr>
            <a:cxnSpLocks/>
          </p:cNvCxnSpPr>
          <p:nvPr/>
        </p:nvCxnSpPr>
        <p:spPr>
          <a:xfrm>
            <a:off x="3691595" y="2747190"/>
            <a:ext cx="1252279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FCBC270-6F87-CC4A-D365-3346612AE99D}"/>
              </a:ext>
            </a:extLst>
          </p:cNvPr>
          <p:cNvCxnSpPr>
            <a:cxnSpLocks/>
          </p:cNvCxnSpPr>
          <p:nvPr/>
        </p:nvCxnSpPr>
        <p:spPr>
          <a:xfrm>
            <a:off x="3766386" y="4009544"/>
            <a:ext cx="1252279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1691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0E729F-C304-6875-409D-6E15EDCEC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F1AC1E-AD95-11A5-2AB8-578E2E37F607}"/>
              </a:ext>
            </a:extLst>
          </p:cNvPr>
          <p:cNvSpPr txBox="1"/>
          <p:nvPr/>
        </p:nvSpPr>
        <p:spPr>
          <a:xfrm>
            <a:off x="3359069" y="214198"/>
            <a:ext cx="5396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Process 3: Customer Transaction Failure Handling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E1815E-B1CC-B7D7-21B1-BAAE7F803138}"/>
              </a:ext>
            </a:extLst>
          </p:cNvPr>
          <p:cNvSpPr txBox="1"/>
          <p:nvPr/>
        </p:nvSpPr>
        <p:spPr>
          <a:xfrm>
            <a:off x="243840" y="914400"/>
            <a:ext cx="5046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Query: Money debited but transaction failed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5494FE-FC73-2927-4A86-EDD61DD2E570}"/>
              </a:ext>
            </a:extLst>
          </p:cNvPr>
          <p:cNvSpPr txBox="1"/>
          <p:nvPr/>
        </p:nvSpPr>
        <p:spPr>
          <a:xfrm>
            <a:off x="243840" y="4103802"/>
            <a:ext cx="1344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Agent Flow: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D4028BA-94CD-7142-FB4A-51C5569BF69D}"/>
              </a:ext>
            </a:extLst>
          </p:cNvPr>
          <p:cNvSpPr/>
          <p:nvPr/>
        </p:nvSpPr>
        <p:spPr>
          <a:xfrm>
            <a:off x="243841" y="4677646"/>
            <a:ext cx="1474792" cy="66548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Goal: Resolve Dispute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FC001A7-37F7-7A18-3CE9-8924EBCD3F85}"/>
              </a:ext>
            </a:extLst>
          </p:cNvPr>
          <p:cNvSpPr/>
          <p:nvPr/>
        </p:nvSpPr>
        <p:spPr>
          <a:xfrm>
            <a:off x="2883844" y="4660898"/>
            <a:ext cx="1281755" cy="68373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Decide next action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AD88BCD-758E-CE17-5655-A82F7DE66326}"/>
              </a:ext>
            </a:extLst>
          </p:cNvPr>
          <p:cNvSpPr/>
          <p:nvPr/>
        </p:nvSpPr>
        <p:spPr>
          <a:xfrm>
            <a:off x="5400884" y="4660898"/>
            <a:ext cx="1395110" cy="66698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Use Tools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81F7BE5-4C80-C2E9-BAC9-B61C91DBC3ED}"/>
              </a:ext>
            </a:extLst>
          </p:cNvPr>
          <p:cNvSpPr/>
          <p:nvPr/>
        </p:nvSpPr>
        <p:spPr>
          <a:xfrm>
            <a:off x="7946169" y="4698718"/>
            <a:ext cx="1395110" cy="63142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Observe Results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123AF45-F933-E6E7-27E8-26FED4AAEA2A}"/>
              </a:ext>
            </a:extLst>
          </p:cNvPr>
          <p:cNvCxnSpPr/>
          <p:nvPr/>
        </p:nvCxnSpPr>
        <p:spPr>
          <a:xfrm>
            <a:off x="1818640" y="5002766"/>
            <a:ext cx="965200" cy="8374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2250250-7D50-D4EB-849A-D498BC1EB032}"/>
              </a:ext>
            </a:extLst>
          </p:cNvPr>
          <p:cNvCxnSpPr/>
          <p:nvPr/>
        </p:nvCxnSpPr>
        <p:spPr>
          <a:xfrm>
            <a:off x="4261947" y="5011140"/>
            <a:ext cx="965200" cy="8374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2CE9514-0FC8-1F2A-01AE-44EA312DC2AA}"/>
              </a:ext>
            </a:extLst>
          </p:cNvPr>
          <p:cNvCxnSpPr/>
          <p:nvPr/>
        </p:nvCxnSpPr>
        <p:spPr>
          <a:xfrm>
            <a:off x="6888481" y="5019514"/>
            <a:ext cx="965200" cy="8374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1901D12-64A2-EF18-7FCD-5018DFE8E08C}"/>
              </a:ext>
            </a:extLst>
          </p:cNvPr>
          <p:cNvSpPr/>
          <p:nvPr/>
        </p:nvSpPr>
        <p:spPr>
          <a:xfrm>
            <a:off x="10491454" y="4703800"/>
            <a:ext cx="1395110" cy="63142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Completes or Escalates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657A493-A30A-C4C0-51D2-5A735EB09A9E}"/>
              </a:ext>
            </a:extLst>
          </p:cNvPr>
          <p:cNvCxnSpPr/>
          <p:nvPr/>
        </p:nvCxnSpPr>
        <p:spPr>
          <a:xfrm>
            <a:off x="9433766" y="5006199"/>
            <a:ext cx="965200" cy="8374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F975CB2-0B5C-D798-1464-2CC5D8E7EA2C}"/>
              </a:ext>
            </a:extLst>
          </p:cNvPr>
          <p:cNvSpPr txBox="1"/>
          <p:nvPr/>
        </p:nvSpPr>
        <p:spPr>
          <a:xfrm>
            <a:off x="203200" y="1513366"/>
            <a:ext cx="343760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Tools used by AI Agent: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Banking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Payment Gateway Logs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Fraud Detection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 Transaction History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Messages sent to customer</a:t>
            </a:r>
          </a:p>
        </p:txBody>
      </p:sp>
    </p:spTree>
    <p:extLst>
      <p:ext uri="{BB962C8B-B14F-4D97-AF65-F5344CB8AC3E}">
        <p14:creationId xmlns:p14="http://schemas.microsoft.com/office/powerpoint/2010/main" val="129310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5FD71C-86E5-A4FF-A99F-5C9FCE0CF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3A8804-B1E4-2A4D-6A14-89BB88A09B04}"/>
              </a:ext>
            </a:extLst>
          </p:cNvPr>
          <p:cNvSpPr txBox="1"/>
          <p:nvPr/>
        </p:nvSpPr>
        <p:spPr>
          <a:xfrm>
            <a:off x="3105069" y="183718"/>
            <a:ext cx="63670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When to use Predicable Workflow vs Dynamic Agent?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3850BC-399C-EF48-B9C4-1A4CF6F310DD}"/>
              </a:ext>
            </a:extLst>
          </p:cNvPr>
          <p:cNvSpPr txBox="1"/>
          <p:nvPr/>
        </p:nvSpPr>
        <p:spPr>
          <a:xfrm>
            <a:off x="355600" y="1016000"/>
            <a:ext cx="1790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Workflow Usage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5CDFC9-1542-F9DF-C84B-4DC2CBFB4230}"/>
              </a:ext>
            </a:extLst>
          </p:cNvPr>
          <p:cNvSpPr txBox="1"/>
          <p:nvPr/>
        </p:nvSpPr>
        <p:spPr>
          <a:xfrm>
            <a:off x="351709" y="1463040"/>
            <a:ext cx="605114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Process has fixed steps in a fixed 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Process is repetitive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steps are pre-decided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LLM does not need to make decisions on what to do next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2D0256-7724-B8F2-E7AC-EF11B13AB2BA}"/>
              </a:ext>
            </a:extLst>
          </p:cNvPr>
          <p:cNvSpPr txBox="1"/>
          <p:nvPr/>
        </p:nvSpPr>
        <p:spPr>
          <a:xfrm>
            <a:off x="351709" y="3222788"/>
            <a:ext cx="1477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Agent Usage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AD3334-D979-40A0-A73C-BDFDEE598B45}"/>
              </a:ext>
            </a:extLst>
          </p:cNvPr>
          <p:cNvSpPr txBox="1"/>
          <p:nvPr/>
        </p:nvSpPr>
        <p:spPr>
          <a:xfrm>
            <a:off x="351709" y="3635212"/>
            <a:ext cx="1002383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Process involves judgement or decision-making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Results are subject to change based on customer queries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steps are not fixed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agent decides what to do next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An agent has a goal, observes the current situation, and takes actions based on what it observes</a:t>
            </a:r>
          </a:p>
        </p:txBody>
      </p:sp>
    </p:spTree>
    <p:extLst>
      <p:ext uri="{BB962C8B-B14F-4D97-AF65-F5344CB8AC3E}">
        <p14:creationId xmlns:p14="http://schemas.microsoft.com/office/powerpoint/2010/main" val="1806124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404</Words>
  <Application>Microsoft Macintosh PowerPoint</Application>
  <PresentationFormat>Widescreen</PresentationFormat>
  <Paragraphs>78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Ramaraju Venkat, Karunya</dc:creator>
  <cp:lastModifiedBy>Ramaraju Venkat, Karunya</cp:lastModifiedBy>
  <cp:revision>80</cp:revision>
  <dcterms:created xsi:type="dcterms:W3CDTF">2026-01-16T02:41:14Z</dcterms:created>
  <dcterms:modified xsi:type="dcterms:W3CDTF">2026-01-16T07:16:03Z</dcterms:modified>
</cp:coreProperties>
</file>